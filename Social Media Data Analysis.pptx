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Default Extension="svg" ContentType="image/svg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2"/>
  </p:notesMasterIdLst>
  <p:sldIdLst>
    <p:sldId id="292" r:id="rId5"/>
    <p:sldId id="1291" r:id="rId6"/>
    <p:sldId id="1292" r:id="rId7"/>
    <p:sldId id="1294" r:id="rId8"/>
    <p:sldId id="1293" r:id="rId9"/>
    <p:sldId id="1296" r:id="rId10"/>
    <p:sldId id="1250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588" userDrawn="1">
          <p15:clr>
            <a:srgbClr val="A4A3A4"/>
          </p15:clr>
        </p15:guide>
        <p15:guide id="2" pos="144" userDrawn="1">
          <p15:clr>
            <a:srgbClr val="A4A3A4"/>
          </p15:clr>
        </p15:guide>
        <p15:guide id="3" orient="horz" pos="852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A7C73"/>
    <a:srgbClr val="E8ECF8"/>
    <a:srgbClr val="EF6331"/>
    <a:srgbClr val="223366"/>
    <a:srgbClr val="00717D"/>
    <a:srgbClr val="C9D2ED"/>
    <a:srgbClr val="851910"/>
    <a:srgbClr val="0000FF"/>
    <a:srgbClr val="FFCD8C"/>
    <a:srgbClr val="9F59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295A3-2248-3816-7694-B84E22177B55}" v="10" dt="2026-02-27T08:38:34.267"/>
    <p1510:client id="{6346DCD3-3385-1DEB-CB4C-8CA446595EFF}" v="3" dt="2026-02-27T08:49:57.2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1" d="2"/>
          <a:sy n="1" d="2"/>
        </p:scale>
        <p:origin x="-2386" y="-1042"/>
      </p:cViewPr>
      <p:guideLst>
        <p:guide orient="horz" pos="588"/>
        <p:guide orient="horz" pos="852"/>
        <p:guide pos="1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pPr algn="r"/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369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121108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384582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366712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745323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338802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378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6EBA23-5FDD-5D7E-F6FC-E4A6A7F5F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81DBF0E-B651-D205-69BC-E38929484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C5EAFE9-FEB4-90FA-7604-E71268E9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57799B1-BD81-4C27-AC39-14752E0AA9C5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0042C0C-D784-7894-6E7A-A3163E7B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97E244B-37C0-9DC6-22CD-EB660918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46D0F184-99CC-4BD8-B5C7-8D3F468855F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12151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1C8B4DC1-1FB6-97A3-9F51-B9358500E0A8}"/>
              </a:ext>
            </a:extLst>
          </p:cNvPr>
          <p:cNvSpPr/>
          <p:nvPr userDrawn="1"/>
        </p:nvSpPr>
        <p:spPr>
          <a:xfrm>
            <a:off x="0" y="454356"/>
            <a:ext cx="9144000" cy="45719"/>
          </a:xfrm>
          <a:prstGeom prst="rect">
            <a:avLst/>
          </a:prstGeom>
          <a:solidFill>
            <a:srgbClr val="EF6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97B0C45-392E-206A-6503-A52CA087AB64}"/>
              </a:ext>
            </a:extLst>
          </p:cNvPr>
          <p:cNvSpPr/>
          <p:nvPr userDrawn="1"/>
        </p:nvSpPr>
        <p:spPr>
          <a:xfrm>
            <a:off x="0" y="2445"/>
            <a:ext cx="9144000" cy="467289"/>
          </a:xfrm>
          <a:prstGeom prst="rect">
            <a:avLst/>
          </a:prstGeom>
          <a:solidFill>
            <a:srgbClr val="E8EC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oogle Shape;110;p4" descr="A close up of a sign&#10;&#10;Description automatically generated">
            <a:extLst>
              <a:ext uri="{FF2B5EF4-FFF2-40B4-BE49-F238E27FC236}">
                <a16:creationId xmlns=""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7717638" y="48027"/>
            <a:ext cx="1125129" cy="37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1E902BD-DE18-50F7-2A75-FEB6FA54A56F}"/>
              </a:ext>
            </a:extLst>
          </p:cNvPr>
          <p:cNvSpPr/>
          <p:nvPr userDrawn="1"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14" r:id="rId2"/>
    <p:sldLayoutId id="214748371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jpe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pilotstudio.microsoft.com/environments/Default-ad06ef22-d6dc-4a55-b4c1-c3a158f5f147/bots/cr78b_copilot1tJ7uAB/canva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048131F8-7219-F30F-23C3-B1A523F13B4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group of people sitting around a table&#10;&#10;Description automatically generated">
            <a:extLst>
              <a:ext uri="{FF2B5EF4-FFF2-40B4-BE49-F238E27FC236}">
                <a16:creationId xmlns="" xmlns:a16="http://schemas.microsoft.com/office/drawing/2014/main" id="{F50512D5-A288-DE64-5FE5-FAA83B724C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854" b="25110"/>
          <a:stretch/>
        </p:blipFill>
        <p:spPr>
          <a:xfrm>
            <a:off x="3591976" y="-11575"/>
            <a:ext cx="5563599" cy="3851975"/>
          </a:xfrm>
          <a:prstGeom prst="rect">
            <a:avLst/>
          </a:prstGeom>
        </p:spPr>
      </p:pic>
      <p:grpSp>
        <p:nvGrpSpPr>
          <p:cNvPr id="9" name="Group 6">
            <a:extLst>
              <a:ext uri="{FF2B5EF4-FFF2-40B4-BE49-F238E27FC236}">
                <a16:creationId xmlns="" xmlns:a16="http://schemas.microsoft.com/office/drawing/2014/main" id="{ED09A716-F5FD-30AD-BA53-B5110DF9CEEE}"/>
              </a:ext>
            </a:extLst>
          </p:cNvPr>
          <p:cNvGrpSpPr/>
          <p:nvPr/>
        </p:nvGrpSpPr>
        <p:grpSpPr>
          <a:xfrm>
            <a:off x="552672" y="1325358"/>
            <a:ext cx="5347819" cy="2630034"/>
            <a:chOff x="-30164" y="-47625"/>
            <a:chExt cx="1548591" cy="761590"/>
          </a:xfrm>
        </p:grpSpPr>
        <p:sp>
          <p:nvSpPr>
            <p:cNvPr id="10" name="Freeform 7">
              <a:extLst>
                <a:ext uri="{FF2B5EF4-FFF2-40B4-BE49-F238E27FC236}">
                  <a16:creationId xmlns="" xmlns:a16="http://schemas.microsoft.com/office/drawing/2014/main" id="{6A1020B1-E8B3-2D26-3C61-328C79130C0D}"/>
                </a:ext>
              </a:extLst>
            </p:cNvPr>
            <p:cNvSpPr/>
            <p:nvPr/>
          </p:nvSpPr>
          <p:spPr>
            <a:xfrm>
              <a:off x="-30164" y="0"/>
              <a:ext cx="1548591" cy="713965"/>
            </a:xfrm>
            <a:custGeom>
              <a:avLst/>
              <a:gdLst/>
              <a:ahLst/>
              <a:cxnLst/>
              <a:rect l="l" t="t" r="r" b="b"/>
              <a:pathLst>
                <a:path w="1223699" h="713965">
                  <a:moveTo>
                    <a:pt x="0" y="0"/>
                  </a:moveTo>
                  <a:lnTo>
                    <a:pt x="1223699" y="0"/>
                  </a:lnTo>
                  <a:lnTo>
                    <a:pt x="1223699" y="713965"/>
                  </a:lnTo>
                  <a:lnTo>
                    <a:pt x="0" y="7139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8">
              <a:extLst>
                <a:ext uri="{FF2B5EF4-FFF2-40B4-BE49-F238E27FC236}">
                  <a16:creationId xmlns="" xmlns:a16="http://schemas.microsoft.com/office/drawing/2014/main" id="{2F1C3D6B-7CF9-2BD5-8B36-9878D3FBC36D}"/>
                </a:ext>
              </a:extLst>
            </p:cNvPr>
            <p:cNvSpPr txBox="1"/>
            <p:nvPr/>
          </p:nvSpPr>
          <p:spPr>
            <a:xfrm>
              <a:off x="0" y="-47625"/>
              <a:ext cx="1223699" cy="761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="" xmlns:a16="http://schemas.microsoft.com/office/drawing/2014/main" id="{AE32C22C-3FDB-2396-2943-AFA12977BDA2}"/>
              </a:ext>
            </a:extLst>
          </p:cNvPr>
          <p:cNvGrpSpPr/>
          <p:nvPr/>
        </p:nvGrpSpPr>
        <p:grpSpPr>
          <a:xfrm>
            <a:off x="793587" y="1098363"/>
            <a:ext cx="4820890" cy="773873"/>
            <a:chOff x="-117556" y="-72266"/>
            <a:chExt cx="1991689" cy="319716"/>
          </a:xfrm>
        </p:grpSpPr>
        <p:sp>
          <p:nvSpPr>
            <p:cNvPr id="13" name="Freeform 10">
              <a:extLst>
                <a:ext uri="{FF2B5EF4-FFF2-40B4-BE49-F238E27FC236}">
                  <a16:creationId xmlns="" xmlns:a16="http://schemas.microsoft.com/office/drawing/2014/main" id="{DD5D5B45-D48F-CBC2-FAE6-3C32D4CA4A54}"/>
                </a:ext>
              </a:extLst>
            </p:cNvPr>
            <p:cNvSpPr/>
            <p:nvPr/>
          </p:nvSpPr>
          <p:spPr>
            <a:xfrm>
              <a:off x="-117556" y="-72266"/>
              <a:ext cx="1991689" cy="319716"/>
            </a:xfrm>
            <a:custGeom>
              <a:avLst/>
              <a:gdLst/>
              <a:ahLst/>
              <a:cxnLst/>
              <a:rect l="l" t="t" r="r" b="b"/>
              <a:pathLst>
                <a:path w="736235" h="178921">
                  <a:moveTo>
                    <a:pt x="0" y="0"/>
                  </a:moveTo>
                  <a:lnTo>
                    <a:pt x="736235" y="0"/>
                  </a:lnTo>
                  <a:lnTo>
                    <a:pt x="736235" y="178921"/>
                  </a:lnTo>
                  <a:lnTo>
                    <a:pt x="0" y="178921"/>
                  </a:lnTo>
                  <a:close/>
                </a:path>
              </a:pathLst>
            </a:custGeom>
            <a:solidFill>
              <a:srgbClr val="E8EC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1">
              <a:extLst>
                <a:ext uri="{FF2B5EF4-FFF2-40B4-BE49-F238E27FC236}">
                  <a16:creationId xmlns="" xmlns:a16="http://schemas.microsoft.com/office/drawing/2014/main" id="{D4602096-BB2A-D06A-F2F9-A1B85FB7B21D}"/>
                </a:ext>
              </a:extLst>
            </p:cNvPr>
            <p:cNvSpPr txBox="1"/>
            <p:nvPr/>
          </p:nvSpPr>
          <p:spPr>
            <a:xfrm>
              <a:off x="0" y="-66675"/>
              <a:ext cx="736235" cy="245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3">
            <a:extLst>
              <a:ext uri="{FF2B5EF4-FFF2-40B4-BE49-F238E27FC236}">
                <a16:creationId xmlns="" xmlns:a16="http://schemas.microsoft.com/office/drawing/2014/main" id="{E92715B5-E2D3-4776-93F0-B360B5A59553}"/>
              </a:ext>
            </a:extLst>
          </p:cNvPr>
          <p:cNvSpPr/>
          <p:nvPr/>
        </p:nvSpPr>
        <p:spPr>
          <a:xfrm>
            <a:off x="1783618" y="199"/>
            <a:ext cx="1032349" cy="451764"/>
          </a:xfrm>
          <a:custGeom>
            <a:avLst/>
            <a:gdLst/>
            <a:ahLst/>
            <a:cxnLst/>
            <a:rect l="l" t="t" r="r" b="b"/>
            <a:pathLst>
              <a:path w="2102123" h="919905">
                <a:moveTo>
                  <a:pt x="0" y="0"/>
                </a:moveTo>
                <a:lnTo>
                  <a:pt x="2102123" y="0"/>
                </a:lnTo>
                <a:lnTo>
                  <a:pt x="2102123" y="919905"/>
                </a:lnTo>
                <a:lnTo>
                  <a:pt x="0" y="91990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2000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/>
            <a:stretch>
              <a:fillRect t="-106728" r="-65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4">
            <a:extLst>
              <a:ext uri="{FF2B5EF4-FFF2-40B4-BE49-F238E27FC236}">
                <a16:creationId xmlns="" xmlns:a16="http://schemas.microsoft.com/office/drawing/2014/main" id="{E93B0532-3834-38EB-306B-BB126F538A06}"/>
              </a:ext>
            </a:extLst>
          </p:cNvPr>
          <p:cNvSpPr/>
          <p:nvPr/>
        </p:nvSpPr>
        <p:spPr>
          <a:xfrm>
            <a:off x="151647" y="93093"/>
            <a:ext cx="770970" cy="773872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B1520DAD-F8CC-E505-163A-1A40C1FCC226}"/>
              </a:ext>
            </a:extLst>
          </p:cNvPr>
          <p:cNvSpPr txBox="1"/>
          <p:nvPr/>
        </p:nvSpPr>
        <p:spPr>
          <a:xfrm>
            <a:off x="793587" y="2065201"/>
            <a:ext cx="40891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tx1"/>
                </a:solidFill>
              </a:rPr>
              <a:t>Social Media Data Analysis</a:t>
            </a:r>
            <a:endParaRPr lang="en-US" sz="4400" b="1" dirty="0">
              <a:solidFill>
                <a:schemeClr val="tx1"/>
              </a:solidFill>
            </a:endParaRPr>
          </a:p>
        </p:txBody>
      </p:sp>
      <p:pic>
        <p:nvPicPr>
          <p:cNvPr id="39" name="Picture 38" descr="A group of people looking at a computer&#10;&#10;Description automatically generated">
            <a:extLst>
              <a:ext uri="{FF2B5EF4-FFF2-40B4-BE49-F238E27FC236}">
                <a16:creationId xmlns="" xmlns:a16="http://schemas.microsoft.com/office/drawing/2014/main" id="{18A248EA-6D70-BC00-C66F-B374210692E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2443" r="30604" b="14243"/>
          <a:stretch/>
        </p:blipFill>
        <p:spPr>
          <a:xfrm>
            <a:off x="-8839" y="3956265"/>
            <a:ext cx="3569383" cy="1199146"/>
          </a:xfrm>
          <a:prstGeom prst="rect">
            <a:avLst/>
          </a:prstGeom>
        </p:spPr>
      </p:pic>
      <p:sp>
        <p:nvSpPr>
          <p:cNvPr id="40" name="Google Shape;70;p13">
            <a:extLst>
              <a:ext uri="{FF2B5EF4-FFF2-40B4-BE49-F238E27FC236}">
                <a16:creationId xmlns="" xmlns:a16="http://schemas.microsoft.com/office/drawing/2014/main" id="{574F20A4-E865-2423-673E-2D8E75BC50D9}"/>
              </a:ext>
            </a:extLst>
          </p:cNvPr>
          <p:cNvSpPr txBox="1"/>
          <p:nvPr/>
        </p:nvSpPr>
        <p:spPr>
          <a:xfrm>
            <a:off x="3703173" y="4157917"/>
            <a:ext cx="14569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94658D58-B26B-B263-E4E7-719E9EA907D6}"/>
              </a:ext>
            </a:extLst>
          </p:cNvPr>
          <p:cNvSpPr txBox="1"/>
          <p:nvPr/>
        </p:nvSpPr>
        <p:spPr>
          <a:xfrm>
            <a:off x="3705805" y="4448284"/>
            <a:ext cx="2168784" cy="7335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fi-FI" sz="700" dirty="0" smtClean="0">
                <a:solidFill>
                  <a:schemeClr val="bg1"/>
                </a:solidFill>
              </a:rPr>
              <a:t>Sandeep Kaur</a:t>
            </a:r>
            <a:endParaRPr lang="en-US" sz="900" dirty="0">
              <a:solidFill>
                <a:schemeClr val="bg1"/>
              </a:solidFill>
            </a:endParaRP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fi-FI" sz="700" dirty="0" smtClean="0">
                <a:solidFill>
                  <a:schemeClr val="bg1"/>
                </a:solidFill>
              </a:rPr>
              <a:t>Sheetal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fi-FI" sz="700" dirty="0" smtClean="0">
                <a:solidFill>
                  <a:schemeClr val="bg1"/>
                </a:solidFill>
              </a:rPr>
              <a:t>Palak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fi-FI" sz="700" dirty="0" smtClean="0">
                <a:solidFill>
                  <a:schemeClr val="bg1"/>
                </a:solidFill>
              </a:rPr>
              <a:t>Pallu Sharma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fi-FI" sz="700" dirty="0" smtClean="0">
                <a:solidFill>
                  <a:schemeClr val="bg1"/>
                </a:solidFill>
              </a:rPr>
              <a:t>Sanjana Sharma</a:t>
            </a:r>
            <a:endParaRPr lang="fi-FI" sz="700" dirty="0">
              <a:solidFill>
                <a:schemeClr val="bg1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="" xmlns:a16="http://schemas.microsoft.com/office/drawing/2014/main" id="{DDA9C646-678B-4CA4-AAF5-5A0CA4DB2AC5}"/>
              </a:ext>
            </a:extLst>
          </p:cNvPr>
          <p:cNvCxnSpPr>
            <a:cxnSpLocks/>
          </p:cNvCxnSpPr>
          <p:nvPr/>
        </p:nvCxnSpPr>
        <p:spPr>
          <a:xfrm>
            <a:off x="3799761" y="4434876"/>
            <a:ext cx="2074828" cy="13408"/>
          </a:xfrm>
          <a:prstGeom prst="line">
            <a:avLst/>
          </a:prstGeom>
          <a:ln w="3175">
            <a:solidFill>
              <a:srgbClr val="E5EEFF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70;p13">
            <a:extLst>
              <a:ext uri="{FF2B5EF4-FFF2-40B4-BE49-F238E27FC236}">
                <a16:creationId xmlns="" xmlns:a16="http://schemas.microsoft.com/office/drawing/2014/main" id="{43C0C02E-B24A-392F-8483-77C0267C88E1}"/>
              </a:ext>
            </a:extLst>
          </p:cNvPr>
          <p:cNvSpPr txBox="1"/>
          <p:nvPr/>
        </p:nvSpPr>
        <p:spPr>
          <a:xfrm>
            <a:off x="6607160" y="4171325"/>
            <a:ext cx="14569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Guided by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5F6B4A00-040F-FDB6-2131-846EB7188C53}"/>
              </a:ext>
            </a:extLst>
          </p:cNvPr>
          <p:cNvSpPr txBox="1"/>
          <p:nvPr/>
        </p:nvSpPr>
        <p:spPr>
          <a:xfrm>
            <a:off x="6609792" y="4461692"/>
            <a:ext cx="2168784" cy="2000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US" sz="700" dirty="0" smtClean="0">
                <a:solidFill>
                  <a:schemeClr val="bg1"/>
                </a:solidFill>
              </a:rPr>
              <a:t>Mr. Karan </a:t>
            </a:r>
            <a:r>
              <a:rPr lang="en-US" sz="700" dirty="0" err="1" smtClean="0">
                <a:solidFill>
                  <a:schemeClr val="bg1"/>
                </a:solidFill>
              </a:rPr>
              <a:t>Bhat</a:t>
            </a:r>
            <a:endParaRPr lang="fi-FI" sz="700" dirty="0">
              <a:solidFill>
                <a:schemeClr val="bg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="" xmlns:a16="http://schemas.microsoft.com/office/drawing/2014/main" id="{7C930180-14D0-979F-80DC-202E3B74AD60}"/>
              </a:ext>
            </a:extLst>
          </p:cNvPr>
          <p:cNvCxnSpPr>
            <a:cxnSpLocks/>
          </p:cNvCxnSpPr>
          <p:nvPr/>
        </p:nvCxnSpPr>
        <p:spPr>
          <a:xfrm>
            <a:off x="6703748" y="4448284"/>
            <a:ext cx="2074828" cy="13408"/>
          </a:xfrm>
          <a:prstGeom prst="line">
            <a:avLst/>
          </a:prstGeom>
          <a:ln w="3175">
            <a:solidFill>
              <a:srgbClr val="E5EEFF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="" xmlns:a16="http://schemas.microsoft.com/office/drawing/2014/main" id="{242FDAC4-AE27-C374-87FA-1488045722F0}"/>
              </a:ext>
            </a:extLst>
          </p:cNvPr>
          <p:cNvGrpSpPr/>
          <p:nvPr/>
        </p:nvGrpSpPr>
        <p:grpSpPr>
          <a:xfrm>
            <a:off x="1402805" y="1159739"/>
            <a:ext cx="3608846" cy="660460"/>
            <a:chOff x="1516338" y="1159739"/>
            <a:chExt cx="3608846" cy="66046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="" xmlns:a16="http://schemas.microsoft.com/office/drawing/2014/main" id="{E7602FD7-B850-30FC-6F11-B26765319CF5}"/>
                </a:ext>
              </a:extLst>
            </p:cNvPr>
            <p:cNvCxnSpPr>
              <a:cxnSpLocks/>
            </p:cNvCxnSpPr>
            <p:nvPr/>
          </p:nvCxnSpPr>
          <p:spPr>
            <a:xfrm>
              <a:off x="3969406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9" name="Google Shape;110;p4" descr="A close up of a sign&#10;&#10;Description automatically generated">
              <a:extLst>
                <a:ext uri="{FF2B5EF4-FFF2-40B4-BE49-F238E27FC236}">
                  <a16:creationId xmlns="" xmlns:a16="http://schemas.microsoft.com/office/drawing/2014/main" id="{321F3B6E-D5C9-7BFA-7BDB-50FF890BB65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237873" y="1341787"/>
              <a:ext cx="887311" cy="296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Picture 49">
              <a:extLst>
                <a:ext uri="{FF2B5EF4-FFF2-40B4-BE49-F238E27FC236}">
                  <a16:creationId xmlns="" xmlns:a16="http://schemas.microsoft.com/office/drawing/2014/main" id="{E97570DF-6F54-74D9-731F-612CF788DA56}"/>
                </a:ext>
              </a:extLst>
            </p:cNvPr>
            <p:cNvPicPr/>
            <p:nvPr/>
          </p:nvPicPr>
          <p:blipFill>
            <a:blip r:embed="rId8"/>
            <a:stretch/>
          </p:blipFill>
          <p:spPr>
            <a:xfrm>
              <a:off x="1516338" y="1351451"/>
              <a:ext cx="1069048" cy="277034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51" name="Straight Connector 50">
              <a:extLst>
                <a:ext uri="{FF2B5EF4-FFF2-40B4-BE49-F238E27FC236}">
                  <a16:creationId xmlns="" xmlns:a16="http://schemas.microsoft.com/office/drawing/2014/main" id="{C2C4709E-5DC8-3087-4DFF-5FD21D1AA1BA}"/>
                </a:ext>
              </a:extLst>
            </p:cNvPr>
            <p:cNvCxnSpPr>
              <a:cxnSpLocks/>
            </p:cNvCxnSpPr>
            <p:nvPr/>
          </p:nvCxnSpPr>
          <p:spPr>
            <a:xfrm>
              <a:off x="2615873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2" name="Picture 51" descr="A logo with tools in a circle&#10;&#10;Description automatically generated">
              <a:extLst>
                <a:ext uri="{FF2B5EF4-FFF2-40B4-BE49-F238E27FC236}">
                  <a16:creationId xmlns="" xmlns:a16="http://schemas.microsoft.com/office/drawing/2014/main" id="{D5514759-EB9F-E36E-1FFF-E3E7F1E44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93928" y="1159739"/>
              <a:ext cx="658966" cy="66046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143933" y="683683"/>
            <a:ext cx="4428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213163"/>
                </a:solidFill>
              </a:rPr>
              <a:t>Problem Statement</a:t>
            </a:r>
            <a:endParaRPr lang="en-IN" sz="1600" dirty="0">
              <a:solidFill>
                <a:srgbClr val="21316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E2510F8-EE68-4DB7-5481-38EDBC28EBB2}"/>
              </a:ext>
            </a:extLst>
          </p:cNvPr>
          <p:cNvSpPr txBox="1"/>
          <p:nvPr/>
        </p:nvSpPr>
        <p:spPr>
          <a:xfrm>
            <a:off x="134414" y="1133132"/>
            <a:ext cx="4413733" cy="24622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Social media data is </a:t>
            </a:r>
            <a:r>
              <a:rPr lang="en-GB" b="1" dirty="0" smtClean="0"/>
              <a:t>scattered and complex</a:t>
            </a:r>
            <a:r>
              <a:rPr lang="en-GB" dirty="0" smtClean="0"/>
              <a:t>, making it difficult to analyze performance in one place. </a:t>
            </a:r>
            <a:endParaRPr lang="en-GB" dirty="0" smtClean="0"/>
          </a:p>
          <a:p>
            <a:pPr marL="342900" indent="-342900">
              <a:buFont typeface="Arial" pitchFamily="34" charset="0"/>
              <a:buChar char="•"/>
            </a:pPr>
            <a:endParaRPr lang="en-GB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Businesses </a:t>
            </a:r>
            <a:r>
              <a:rPr lang="en-GB" dirty="0" smtClean="0"/>
              <a:t>lack </a:t>
            </a:r>
            <a:r>
              <a:rPr lang="en-GB" b="1" dirty="0" smtClean="0"/>
              <a:t>real-time insights and clear visualization</a:t>
            </a:r>
            <a:r>
              <a:rPr lang="en-GB" dirty="0" smtClean="0"/>
              <a:t>, which slows down decision-making. </a:t>
            </a:r>
            <a:endParaRPr lang="en-GB" dirty="0" smtClean="0"/>
          </a:p>
          <a:p>
            <a:pPr marL="342900" indent="-342900">
              <a:buFont typeface="Arial" pitchFamily="34" charset="0"/>
              <a:buChar char="•"/>
            </a:pPr>
            <a:endParaRPr lang="en-GB" smtClean="0"/>
          </a:p>
          <a:p>
            <a:pPr marL="342900" indent="-342900">
              <a:buFont typeface="Arial" pitchFamily="34" charset="0"/>
              <a:buChar char="•"/>
            </a:pPr>
            <a:r>
              <a:rPr lang="en-GB" smtClean="0"/>
              <a:t>It </a:t>
            </a:r>
            <a:r>
              <a:rPr lang="en-GB" dirty="0" smtClean="0"/>
              <a:t>is hard to </a:t>
            </a:r>
            <a:r>
              <a:rPr lang="en-GB" b="1" dirty="0" smtClean="0"/>
              <a:t>identify trends, compare campaigns, and understand audience </a:t>
            </a:r>
            <a:r>
              <a:rPr lang="en-GB" b="1" dirty="0" err="1" smtClean="0"/>
              <a:t>behavior</a:t>
            </a:r>
            <a:r>
              <a:rPr lang="en-GB" dirty="0" smtClean="0"/>
              <a:t> from raw data. </a:t>
            </a:r>
            <a:endParaRPr lang="en-GB" dirty="0"/>
          </a:p>
        </p:txBody>
      </p:sp>
      <p:pic>
        <p:nvPicPr>
          <p:cNvPr id="7" name="Picture 6" descr="A cartoon of a person holding a book&#10;&#10;Description automatically generated">
            <a:extLst>
              <a:ext uri="{FF2B5EF4-FFF2-40B4-BE49-F238E27FC236}">
                <a16:creationId xmlns="" xmlns:a16="http://schemas.microsoft.com/office/drawing/2014/main" id="{27276879-51B0-342E-6B09-4EA7C9230A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075"/>
          <a:stretch/>
        </p:blipFill>
        <p:spPr>
          <a:xfrm>
            <a:off x="5112433" y="1147011"/>
            <a:ext cx="2351445" cy="3521243"/>
          </a:xfrm>
          <a:prstGeom prst="rect">
            <a:avLst/>
          </a:prstGeom>
        </p:spPr>
      </p:pic>
      <p:pic>
        <p:nvPicPr>
          <p:cNvPr id="8" name="Picture 7" descr="A blue question mark on a black background&#10;&#10;Description automatically generated">
            <a:extLst>
              <a:ext uri="{FF2B5EF4-FFF2-40B4-BE49-F238E27FC236}">
                <a16:creationId xmlns="" xmlns:a16="http://schemas.microsoft.com/office/drawing/2014/main" id="{AEF795B9-59D0-E5F1-B10D-DC58713F5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258" y="2627897"/>
            <a:ext cx="2260934" cy="226093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4604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4D5078D-F8F7-912B-4E9C-BED71500ACC2}"/>
              </a:ext>
            </a:extLst>
          </p:cNvPr>
          <p:cNvSpPr txBox="1"/>
          <p:nvPr/>
        </p:nvSpPr>
        <p:spPr>
          <a:xfrm>
            <a:off x="143933" y="683683"/>
            <a:ext cx="4428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lang="en-IN" sz="1600">
              <a:solidFill>
                <a:srgbClr val="213163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D00F2964-0D4F-F880-A09E-E7A62DA0D8AD}"/>
              </a:ext>
            </a:extLst>
          </p:cNvPr>
          <p:cNvGrpSpPr/>
          <p:nvPr/>
        </p:nvGrpSpPr>
        <p:grpSpPr>
          <a:xfrm>
            <a:off x="4957011" y="1136519"/>
            <a:ext cx="4296704" cy="3560273"/>
            <a:chOff x="4957011" y="1136519"/>
            <a:chExt cx="4296704" cy="3560273"/>
          </a:xfrm>
        </p:grpSpPr>
        <p:grpSp>
          <p:nvGrpSpPr>
            <p:cNvPr id="14" name="Group 13">
              <a:extLst>
                <a:ext uri="{FF2B5EF4-FFF2-40B4-BE49-F238E27FC236}">
                  <a16:creationId xmlns="" xmlns:a16="http://schemas.microsoft.com/office/drawing/2014/main" id="{4CBDDE1E-3117-B64C-BB4F-1DE4EAC4051A}"/>
                </a:ext>
              </a:extLst>
            </p:cNvPr>
            <p:cNvGrpSpPr/>
            <p:nvPr/>
          </p:nvGrpSpPr>
          <p:grpSpPr>
            <a:xfrm>
              <a:off x="5693442" y="1136519"/>
              <a:ext cx="3560273" cy="3560273"/>
              <a:chOff x="4955715" y="1142768"/>
              <a:chExt cx="3560273" cy="3560273"/>
            </a:xfrm>
          </p:grpSpPr>
          <p:pic>
            <p:nvPicPr>
              <p:cNvPr id="15" name="Graphic 2" descr="Building with solid fill">
                <a:extLst>
                  <a:ext uri="{FF2B5EF4-FFF2-40B4-BE49-F238E27FC236}">
                    <a16:creationId xmlns="" xmlns:a16="http://schemas.microsoft.com/office/drawing/2014/main" id="{EB410575-724F-E860-628D-9E31E8990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955715" y="1142768"/>
                <a:ext cx="3560273" cy="3560273"/>
              </a:xfrm>
              <a:prstGeom prst="rect">
                <a:avLst/>
              </a:prstGeom>
            </p:spPr>
          </p:pic>
          <p:pic>
            <p:nvPicPr>
              <p:cNvPr id="16" name="Picture 15" descr="A green leafy plant with black background&#10;&#10;Description automatically generated">
                <a:extLst>
                  <a:ext uri="{FF2B5EF4-FFF2-40B4-BE49-F238E27FC236}">
                    <a16:creationId xmlns="" xmlns:a16="http://schemas.microsoft.com/office/drawing/2014/main" id="{FA96A03D-8AC6-DF53-33DC-7FEC5CC495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32037" y="400073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7" name="Picture 16" descr="A green leafy plant with black background&#10;&#10;Description automatically generated">
                <a:extLst>
                  <a:ext uri="{FF2B5EF4-FFF2-40B4-BE49-F238E27FC236}">
                    <a16:creationId xmlns="" xmlns:a16="http://schemas.microsoft.com/office/drawing/2014/main" id="{0C87976D-9ED4-94B4-E12D-0E8164899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74975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8" name="Picture 17" descr="A green leafy plant with black background&#10;&#10;Description automatically generated">
                <a:extLst>
                  <a:ext uri="{FF2B5EF4-FFF2-40B4-BE49-F238E27FC236}">
                    <a16:creationId xmlns="" xmlns:a16="http://schemas.microsoft.com/office/drawing/2014/main" id="{162C682B-F14F-E745-A95B-324697E9C8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26171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9" name="Picture 18" descr="A green leafy plant with black background&#10;&#10;Description automatically generated">
                <a:extLst>
                  <a:ext uri="{FF2B5EF4-FFF2-40B4-BE49-F238E27FC236}">
                    <a16:creationId xmlns="" xmlns:a16="http://schemas.microsoft.com/office/drawing/2014/main" id="{B8208A31-28D7-AFA6-DB42-EB7415CD5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9659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20" name="Picture 19" descr="A green leafy plant with black background&#10;&#10;Description automatically generated">
                <a:extLst>
                  <a:ext uri="{FF2B5EF4-FFF2-40B4-BE49-F238E27FC236}">
                    <a16:creationId xmlns="" xmlns:a16="http://schemas.microsoft.com/office/drawing/2014/main" id="{921D4573-E89C-F978-B60F-75ABAB7187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07588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21" name="Picture 20" descr="A green leafy plant with black background&#10;&#10;Description automatically generated">
                <a:extLst>
                  <a:ext uri="{FF2B5EF4-FFF2-40B4-BE49-F238E27FC236}">
                    <a16:creationId xmlns="" xmlns:a16="http://schemas.microsoft.com/office/drawing/2014/main" id="{DD649A93-C91B-E486-EA5E-C080F29D68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9213" y="3992712"/>
                <a:ext cx="463488" cy="463488"/>
              </a:xfrm>
              <a:prstGeom prst="rect">
                <a:avLst/>
              </a:prstGeom>
            </p:spPr>
          </p:pic>
        </p:grpSp>
        <p:sp>
          <p:nvSpPr>
            <p:cNvPr id="22" name="Oval 21">
              <a:extLst>
                <a:ext uri="{FF2B5EF4-FFF2-40B4-BE49-F238E27FC236}">
                  <a16:creationId xmlns="" xmlns:a16="http://schemas.microsoft.com/office/drawing/2014/main" id="{560C6BA6-5F2D-8F9B-162A-E34B8A491099}"/>
                </a:ext>
              </a:extLst>
            </p:cNvPr>
            <p:cNvSpPr/>
            <p:nvPr/>
          </p:nvSpPr>
          <p:spPr>
            <a:xfrm>
              <a:off x="4957011" y="1389708"/>
              <a:ext cx="2274970" cy="22749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Google Shape;134;p23">
              <a:extLst>
                <a:ext uri="{FF2B5EF4-FFF2-40B4-BE49-F238E27FC236}">
                  <a16:creationId xmlns="" xmlns:a16="http://schemas.microsoft.com/office/drawing/2014/main" id="{3382BCA9-3D11-62CB-321B-240BFBF0E00A}"/>
                </a:ext>
              </a:extLst>
            </p:cNvPr>
            <p:cNvSpPr txBox="1"/>
            <p:nvPr/>
          </p:nvSpPr>
          <p:spPr>
            <a:xfrm>
              <a:off x="5156936" y="1429477"/>
              <a:ext cx="1875120" cy="2195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3000" b="1" i="0" u="none" strike="noStrike" cap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AI</a:t>
              </a:r>
            </a:p>
          </p:txBody>
        </p:sp>
        <p:sp>
          <p:nvSpPr>
            <p:cNvPr id="24" name="Google Shape;134;p23">
              <a:extLst>
                <a:ext uri="{FF2B5EF4-FFF2-40B4-BE49-F238E27FC236}">
                  <a16:creationId xmlns="" xmlns:a16="http://schemas.microsoft.com/office/drawing/2014/main" id="{31ADB365-F098-90BE-1170-C0F8C08A2CF1}"/>
                </a:ext>
              </a:extLst>
            </p:cNvPr>
            <p:cNvSpPr txBox="1"/>
            <p:nvPr/>
          </p:nvSpPr>
          <p:spPr>
            <a:xfrm>
              <a:off x="6997972" y="1375380"/>
              <a:ext cx="974956" cy="410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 i="0" u="none" strike="noStrike" cap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SCHOOL</a:t>
              </a:r>
            </a:p>
          </p:txBody>
        </p:sp>
      </p:grpSp>
      <p:sp>
        <p:nvSpPr>
          <p:cNvPr id="26" name="Google Shape;134;p23">
            <a:extLst>
              <a:ext uri="{FF2B5EF4-FFF2-40B4-BE49-F238E27FC236}">
                <a16:creationId xmlns="" xmlns:a16="http://schemas.microsoft.com/office/drawing/2014/main" id="{65A026A1-4157-D47A-7261-C367C2DC72CF}"/>
              </a:ext>
            </a:extLst>
          </p:cNvPr>
          <p:cNvSpPr txBox="1"/>
          <p:nvPr/>
        </p:nvSpPr>
        <p:spPr>
          <a:xfrm>
            <a:off x="131949" y="1142768"/>
            <a:ext cx="4440051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Develop a </a:t>
            </a:r>
            <a:r>
              <a:rPr lang="en-GB" b="1" dirty="0" smtClean="0"/>
              <a:t>centralized dashboard</a:t>
            </a:r>
            <a:r>
              <a:rPr lang="en-GB" dirty="0" smtClean="0"/>
              <a:t> that integrates data from all social media platforms into one place for easy access and analysis. </a:t>
            </a:r>
            <a:endParaRPr lang="en-GB" dirty="0" smtClean="0"/>
          </a:p>
          <a:p>
            <a:pPr marL="342900" indent="-342900">
              <a:buFont typeface="Arial" pitchFamily="34" charset="0"/>
              <a:buChar char="•"/>
            </a:pPr>
            <a:endParaRPr lang="en-GB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Provide </a:t>
            </a:r>
            <a:r>
              <a:rPr lang="en-GB" b="1" dirty="0" smtClean="0"/>
              <a:t>real-time analytics with interactive visualizations</a:t>
            </a:r>
            <a:r>
              <a:rPr lang="en-GB" dirty="0" smtClean="0"/>
              <a:t> (charts, graphs, KPIs) to help users quickly understand performance. </a:t>
            </a:r>
            <a:endParaRPr lang="en-GB" dirty="0" smtClean="0"/>
          </a:p>
          <a:p>
            <a:pPr marL="342900" indent="-342900">
              <a:buFont typeface="Arial" pitchFamily="34" charset="0"/>
              <a:buChar char="•"/>
            </a:pPr>
            <a:endParaRPr lang="en-GB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Include </a:t>
            </a:r>
            <a:r>
              <a:rPr lang="en-GB" dirty="0" smtClean="0"/>
              <a:t>features for </a:t>
            </a:r>
            <a:r>
              <a:rPr lang="en-GB" b="1" dirty="0" smtClean="0"/>
              <a:t>trend analysis, campaign comparison, and audience insights</a:t>
            </a:r>
            <a:r>
              <a:rPr lang="en-GB" dirty="0" smtClean="0"/>
              <a:t> to support better decision-making and strategy planning. </a:t>
            </a:r>
          </a:p>
          <a:p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297519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7;p22">
            <a:extLst>
              <a:ext uri="{FF2B5EF4-FFF2-40B4-BE49-F238E27FC236}">
                <a16:creationId xmlns="" xmlns:a16="http://schemas.microsoft.com/office/drawing/2014/main" id="{CC2ED9E3-05F2-5ECD-DD5B-3430C263D9B6}"/>
              </a:ext>
            </a:extLst>
          </p:cNvPr>
          <p:cNvSpPr txBox="1">
            <a:spLocks/>
          </p:cNvSpPr>
          <p:nvPr/>
        </p:nvSpPr>
        <p:spPr>
          <a:xfrm>
            <a:off x="139767" y="68730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1600" b="1">
                <a:solidFill>
                  <a:srgbClr val="002060"/>
                </a:solidFill>
              </a:rPr>
              <a:t>Project Demo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B5EF4296-6D6A-2195-AEDC-5739E9527820}"/>
              </a:ext>
            </a:extLst>
          </p:cNvPr>
          <p:cNvGrpSpPr/>
          <p:nvPr/>
        </p:nvGrpSpPr>
        <p:grpSpPr>
          <a:xfrm>
            <a:off x="1799924" y="1352550"/>
            <a:ext cx="5422232" cy="3199772"/>
            <a:chOff x="1159110" y="1292018"/>
            <a:chExt cx="5422232" cy="3199772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AA8EF506-DE96-236C-46F0-224868672ADF}"/>
                </a:ext>
              </a:extLst>
            </p:cNvPr>
            <p:cNvSpPr/>
            <p:nvPr/>
          </p:nvSpPr>
          <p:spPr>
            <a:xfrm>
              <a:off x="3217787" y="1292018"/>
              <a:ext cx="2826661" cy="282666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hlinkClick r:id="rId3"/>
              <a:extLst>
                <a:ext uri="{FF2B5EF4-FFF2-40B4-BE49-F238E27FC236}">
                  <a16:creationId xmlns="" xmlns:a16="http://schemas.microsoft.com/office/drawing/2014/main" id="{DED40980-3081-6659-4392-177BDDF9F096}"/>
                </a:ext>
              </a:extLst>
            </p:cNvPr>
            <p:cNvSpPr/>
            <p:nvPr/>
          </p:nvSpPr>
          <p:spPr>
            <a:xfrm>
              <a:off x="1159110" y="2630906"/>
              <a:ext cx="5422232" cy="1860884"/>
            </a:xfrm>
            <a:prstGeom prst="roundRect">
              <a:avLst>
                <a:gd name="adj" fmla="val 14943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A00A5BB1-3E0C-AD1B-4F66-76DA03418642}"/>
                </a:ext>
              </a:extLst>
            </p:cNvPr>
            <p:cNvSpPr txBox="1"/>
            <p:nvPr/>
          </p:nvSpPr>
          <p:spPr>
            <a:xfrm>
              <a:off x="1691508" y="3007350"/>
              <a:ext cx="435743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000" b="1" i="0" u="none" strike="noStrike" cap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Website link </a:t>
              </a:r>
              <a:endParaRPr lang="en-US" sz="3000" b="1">
                <a:solidFill>
                  <a:schemeClr val="bg1"/>
                </a:solidFill>
              </a:endParaRPr>
            </a:p>
          </p:txBody>
        </p:sp>
        <p:sp>
          <p:nvSpPr>
            <p:cNvPr id="12" name="Rectangle 2">
              <a:extLst>
                <a:ext uri="{FF2B5EF4-FFF2-40B4-BE49-F238E27FC236}">
                  <a16:creationId xmlns="" xmlns:a16="http://schemas.microsoft.com/office/drawing/2014/main" id="{18516467-7CBC-2FFE-993C-F7C080FA7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9884" y="3640607"/>
              <a:ext cx="357630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US" altLang="en-US" sz="2000" dirty="0" smtClean="0">
                  <a:solidFill>
                    <a:schemeClr val="accent5">
                      <a:lumMod val="75000"/>
                    </a:schemeClr>
                  </a:solidFill>
                </a:rPr>
                <a:t>Social Media Data Analysis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65058CC0-CC04-8036-24AE-51461F3C17DF}"/>
              </a:ext>
            </a:extLst>
          </p:cNvPr>
          <p:cNvGrpSpPr/>
          <p:nvPr/>
        </p:nvGrpSpPr>
        <p:grpSpPr>
          <a:xfrm>
            <a:off x="4393138" y="1229664"/>
            <a:ext cx="1757585" cy="1815552"/>
            <a:chOff x="686159" y="633457"/>
            <a:chExt cx="2849880" cy="2943873"/>
          </a:xfrm>
        </p:grpSpPr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1401590A-7F69-1C2D-2A3C-3BD68F2C27B2}"/>
                </a:ext>
              </a:extLst>
            </p:cNvPr>
            <p:cNvSpPr/>
            <p:nvPr/>
          </p:nvSpPr>
          <p:spPr>
            <a:xfrm>
              <a:off x="790438" y="1492457"/>
              <a:ext cx="2613660" cy="1493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A person on a computer screen&#10;&#10;Description automatically generated">
              <a:extLst>
                <a:ext uri="{FF2B5EF4-FFF2-40B4-BE49-F238E27FC236}">
                  <a16:creationId xmlns="" xmlns:a16="http://schemas.microsoft.com/office/drawing/2014/main" id="{AEFB9C29-B9A9-F09E-AF9C-106FEC826A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439" r="18038"/>
            <a:stretch/>
          </p:blipFill>
          <p:spPr>
            <a:xfrm>
              <a:off x="686159" y="633457"/>
              <a:ext cx="2849880" cy="29438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="" xmlns:p14="http://schemas.microsoft.com/office/powerpoint/2010/main" val="401713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oup of people standing on a arrow&#10;&#10;Description automatically generated">
            <a:extLst>
              <a:ext uri="{FF2B5EF4-FFF2-40B4-BE49-F238E27FC236}">
                <a16:creationId xmlns="" xmlns:a16="http://schemas.microsoft.com/office/drawing/2014/main" id="{3AF0A26D-CA08-4444-AD3E-FF6B88FF9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488180" y="1021274"/>
            <a:ext cx="4655820" cy="3100952"/>
          </a:xfrm>
          <a:prstGeom prst="rect">
            <a:avLst/>
          </a:prstGeom>
        </p:spPr>
      </p:pic>
      <p:sp>
        <p:nvSpPr>
          <p:cNvPr id="4" name="Google Shape;127;p22">
            <a:extLst>
              <a:ext uri="{FF2B5EF4-FFF2-40B4-BE49-F238E27FC236}">
                <a16:creationId xmlns="" xmlns:a16="http://schemas.microsoft.com/office/drawing/2014/main" id="{8896CF32-2381-134F-850C-1B4E39261E20}"/>
              </a:ext>
            </a:extLst>
          </p:cNvPr>
          <p:cNvSpPr txBox="1">
            <a:spLocks/>
          </p:cNvSpPr>
          <p:nvPr/>
        </p:nvSpPr>
        <p:spPr>
          <a:xfrm>
            <a:off x="139767" y="68730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1600" b="1">
                <a:solidFill>
                  <a:srgbClr val="002060"/>
                </a:solidFill>
              </a:rPr>
              <a:t>Future Scope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="" xmlns:a16="http://schemas.microsoft.com/office/drawing/2014/main" id="{57335198-79A6-CAA5-2CC6-0BB009B8F43A}"/>
              </a:ext>
            </a:extLst>
          </p:cNvPr>
          <p:cNvSpPr txBox="1"/>
          <p:nvPr/>
        </p:nvSpPr>
        <p:spPr>
          <a:xfrm>
            <a:off x="131949" y="1142768"/>
            <a:ext cx="4440051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The dashboard can be enhanced by integrating real-time data from platforms like Instagram and YouTube to provide live insights.</a:t>
            </a:r>
            <a:br>
              <a:rPr lang="en-GB" dirty="0" smtClean="0"/>
            </a:br>
            <a:endParaRPr lang="en-GB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It can also include AI-based predictions and advanced analytics to improve decision-making.</a:t>
            </a:r>
            <a:br>
              <a:rPr lang="en-GB" dirty="0" smtClean="0"/>
            </a:br>
            <a:endParaRPr lang="en-GB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Additionally, expanding to more platforms and adding mobile access will make it more scalable and user-friendly.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2120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7;p22">
            <a:extLst>
              <a:ext uri="{FF2B5EF4-FFF2-40B4-BE49-F238E27FC236}">
                <a16:creationId xmlns="" xmlns:a16="http://schemas.microsoft.com/office/drawing/2014/main" id="{2CBB2190-2983-5B07-C14F-C0C1B82BC484}"/>
              </a:ext>
            </a:extLst>
          </p:cNvPr>
          <p:cNvSpPr txBox="1">
            <a:spLocks/>
          </p:cNvSpPr>
          <p:nvPr/>
        </p:nvSpPr>
        <p:spPr>
          <a:xfrm>
            <a:off x="139767" y="68730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1600" b="1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="" xmlns:a16="http://schemas.microsoft.com/office/drawing/2014/main" id="{F656EEBA-FCC6-FE6F-EAF7-837658983D56}"/>
              </a:ext>
            </a:extLst>
          </p:cNvPr>
          <p:cNvSpPr txBox="1"/>
          <p:nvPr/>
        </p:nvSpPr>
        <p:spPr>
          <a:xfrm>
            <a:off x="131949" y="1142768"/>
            <a:ext cx="4440051" cy="276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3736" lvl="0" indent="-173736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 smtClean="0"/>
              <a:t>The Social Media Data Analysis Dashboard provides a centralized and interactive platform to monitor performance, analyze engagement, and track growth across different platforms.</a:t>
            </a:r>
          </a:p>
          <a:p>
            <a:pPr marL="173736" lvl="0" indent="-173736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 smtClean="0"/>
              <a:t>It simplifies complex data into clear visual insights, helping users make informed and data-driven decisions.</a:t>
            </a:r>
            <a:r>
              <a:rPr lang="en-US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  Overall, the dashboard improves efficiency,      </a:t>
            </a:r>
          </a:p>
          <a:p>
            <a:r>
              <a:rPr lang="en-GB" dirty="0" smtClean="0"/>
              <a:t>    enhances strategy planning, and supports better </a:t>
            </a:r>
          </a:p>
          <a:p>
            <a:r>
              <a:rPr lang="en-GB" dirty="0" smtClean="0"/>
              <a:t>    outcomes in social media management.</a:t>
            </a:r>
          </a:p>
          <a:p>
            <a:pPr marL="173736" indent="-173736">
              <a:spcAft>
                <a:spcPts val="800"/>
              </a:spcAft>
            </a:pPr>
            <a:r>
              <a:rPr lang="en-US" dirty="0"/>
              <a:t> </a:t>
            </a:r>
          </a:p>
        </p:txBody>
      </p:sp>
      <p:pic>
        <p:nvPicPr>
          <p:cNvPr id="9" name="Picture 8" descr="A person standing next to a clipboard with a checklist&#10;&#10;Description automatically generated">
            <a:extLst>
              <a:ext uri="{FF2B5EF4-FFF2-40B4-BE49-F238E27FC236}">
                <a16:creationId xmlns="" xmlns:a16="http://schemas.microsoft.com/office/drawing/2014/main" id="{E9417E3B-DDB5-FAE5-89DC-EBB8DF9142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2" r="12574"/>
          <a:stretch/>
        </p:blipFill>
        <p:spPr>
          <a:xfrm>
            <a:off x="5205663" y="1100827"/>
            <a:ext cx="3930314" cy="374986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0476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thank you card&#10;&#10;Description automatically generated">
            <a:extLst>
              <a:ext uri="{FF2B5EF4-FFF2-40B4-BE49-F238E27FC236}">
                <a16:creationId xmlns="" xmlns:a16="http://schemas.microsoft.com/office/drawing/2014/main" id="{A93903B1-E7A1-B168-DEC2-0635A4163F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10" t="21904" r="9339"/>
          <a:stretch/>
        </p:blipFill>
        <p:spPr>
          <a:xfrm>
            <a:off x="1869484" y="1466831"/>
            <a:ext cx="5647194" cy="306448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4436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236</Words>
  <Application>Microsoft Office PowerPoint</Application>
  <PresentationFormat>On-screen Show (16:9)</PresentationFormat>
  <Paragraphs>40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Simple Light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hp</cp:lastModifiedBy>
  <cp:revision>20</cp:revision>
  <dcterms:modified xsi:type="dcterms:W3CDTF">2026-04-09T10:25:55Z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